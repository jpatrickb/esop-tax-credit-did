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bold.fntdata"/><Relationship Id="rId14" Type="http://schemas.openxmlformats.org/officeDocument/2006/relationships/font" Target="fonts/RobotoMono-regular.fntdata"/><Relationship Id="rId17" Type="http://schemas.openxmlformats.org/officeDocument/2006/relationships/font" Target="fonts/RobotoMono-boldItalic.fntdata"/><Relationship Id="rId16"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812eddce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812eddce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812eddce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812eddce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812eddce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812eddce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Soren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8279e73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8279e73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Mitchell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8279e73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8279e73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Patrick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8279e73e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8279e73e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Patrick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83befd8cb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83befd8cb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Patrick</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398 Project Proposal</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100"/>
              <a:t>Mitchell Ballif, Will Cheney, Soren Pack, Patrick Beal</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661850" y="454475"/>
            <a:ext cx="8378400" cy="572700"/>
          </a:xfrm>
          <a:prstGeom prst="rect">
            <a:avLst/>
          </a:prstGeom>
        </p:spPr>
        <p:txBody>
          <a:bodyPr anchorCtr="0" anchor="t" bIns="91425" lIns="91425" spcFirstLastPara="1" rIns="91425" wrap="square" tIns="91425">
            <a:noAutofit/>
          </a:bodyPr>
          <a:lstStyle/>
          <a:p>
            <a:pPr indent="-450850" lvl="0" marL="457200" rtl="0" algn="l">
              <a:spcBef>
                <a:spcPts val="0"/>
              </a:spcBef>
              <a:spcAft>
                <a:spcPts val="0"/>
              </a:spcAft>
              <a:buSzPts val="3500"/>
              <a:buAutoNum type="arabicParenBoth"/>
            </a:pPr>
            <a:r>
              <a:rPr lang="en" sz="3500"/>
              <a:t>Research Question</a:t>
            </a:r>
            <a:endParaRPr sz="3500"/>
          </a:p>
        </p:txBody>
      </p:sp>
      <p:sp>
        <p:nvSpPr>
          <p:cNvPr id="61" name="Google Shape;61;p14"/>
          <p:cNvSpPr txBox="1"/>
          <p:nvPr>
            <p:ph idx="1" type="body"/>
          </p:nvPr>
        </p:nvSpPr>
        <p:spPr>
          <a:xfrm>
            <a:off x="311700" y="1152475"/>
            <a:ext cx="7904700" cy="3416400"/>
          </a:xfrm>
          <a:prstGeom prst="rect">
            <a:avLst/>
          </a:prstGeom>
        </p:spPr>
        <p:txBody>
          <a:bodyPr anchorCtr="0" anchor="t" bIns="91425" lIns="91425" spcFirstLastPara="1" rIns="91425" wrap="square" tIns="91425">
            <a:normAutofit lnSpcReduction="10000"/>
          </a:bodyPr>
          <a:lstStyle/>
          <a:p>
            <a:pPr indent="-336550" lvl="0" marL="457200" rtl="0" algn="l">
              <a:spcBef>
                <a:spcPts val="600"/>
              </a:spcBef>
              <a:spcAft>
                <a:spcPts val="0"/>
              </a:spcAft>
              <a:buClr>
                <a:schemeClr val="dk1"/>
              </a:buClr>
              <a:buSzPts val="1700"/>
              <a:buChar char="●"/>
            </a:pPr>
            <a:r>
              <a:rPr lang="en" sz="1700">
                <a:solidFill>
                  <a:schemeClr val="dk1"/>
                </a:solidFill>
              </a:rPr>
              <a:t>Do </a:t>
            </a:r>
            <a:r>
              <a:rPr lang="en" sz="1700">
                <a:solidFill>
                  <a:schemeClr val="dk1"/>
                </a:solidFill>
              </a:rPr>
              <a:t>employee ownership tax credits increase ESOP plan participation in the U.S.?</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Outcome: Number of ESOP Participants </a:t>
            </a:r>
            <a:r>
              <a:rPr lang="en" sz="1700">
                <a:solidFill>
                  <a:schemeClr val="dk1"/>
                </a:solidFill>
              </a:rPr>
              <a:t>and</a:t>
            </a:r>
            <a:r>
              <a:rPr lang="en" sz="1700">
                <a:solidFill>
                  <a:schemeClr val="dk1"/>
                </a:solidFill>
              </a:rPr>
              <a:t> $ value of ESOP assets in each state.</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Treatment: Deployment of Employee ownership Tax-Credit Program</a:t>
            </a:r>
            <a:endParaRPr sz="1700">
              <a:solidFill>
                <a:schemeClr val="dk1"/>
              </a:solidFill>
            </a:endParaRPr>
          </a:p>
          <a:p>
            <a:pPr indent="0" lvl="0" marL="0" rtl="0" algn="l">
              <a:spcBef>
                <a:spcPts val="600"/>
              </a:spcBef>
              <a:spcAft>
                <a:spcPts val="0"/>
              </a:spcAft>
              <a:buNone/>
            </a:pPr>
            <a:r>
              <a:t/>
            </a:r>
            <a:endParaRPr sz="1700">
              <a:solidFill>
                <a:schemeClr val="dk1"/>
              </a:solidFill>
            </a:endParaRPr>
          </a:p>
          <a:p>
            <a:pPr indent="0" lvl="0" marL="0" rtl="0" algn="l">
              <a:spcBef>
                <a:spcPts val="600"/>
              </a:spcBef>
              <a:spcAft>
                <a:spcPts val="0"/>
              </a:spcAft>
              <a:buNone/>
            </a:pPr>
            <a:r>
              <a:t/>
            </a:r>
            <a:endParaRPr sz="1700">
              <a:solidFill>
                <a:schemeClr val="dk1"/>
              </a:solidFill>
            </a:endParaRPr>
          </a:p>
          <a:p>
            <a:pPr indent="0" lvl="0" marL="0" rtl="0" algn="l">
              <a:spcBef>
                <a:spcPts val="600"/>
              </a:spcBef>
              <a:spcAft>
                <a:spcPts val="600"/>
              </a:spcAft>
              <a:buNone/>
            </a:pPr>
            <a:r>
              <a:rPr lang="en" sz="1700">
                <a:solidFill>
                  <a:schemeClr val="dk1"/>
                </a:solidFill>
              </a:rPr>
              <a:t>“Employee ownership tax credits are tax incentives offered by governments to encourage companies to transfer ownership to their employees through structures like Employee Stock Ownership Plans (ESOPs), typically allowing businesses to deduct contributions made to these plans”</a:t>
            </a:r>
            <a:endParaRPr sz="17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453850" y="445025"/>
            <a:ext cx="8378400" cy="5727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None/>
            </a:pPr>
            <a:r>
              <a:rPr lang="en" sz="3500"/>
              <a:t>(2)  Concerns with OLS</a:t>
            </a:r>
            <a:endParaRPr sz="3500"/>
          </a:p>
        </p:txBody>
      </p:sp>
      <p:sp>
        <p:nvSpPr>
          <p:cNvPr id="67" name="Google Shape;67;p15"/>
          <p:cNvSpPr txBox="1"/>
          <p:nvPr>
            <p:ph idx="1" type="body"/>
          </p:nvPr>
        </p:nvSpPr>
        <p:spPr>
          <a:xfrm>
            <a:off x="709125" y="1161925"/>
            <a:ext cx="7762500" cy="3416400"/>
          </a:xfrm>
          <a:prstGeom prst="rect">
            <a:avLst/>
          </a:prstGeom>
        </p:spPr>
        <p:txBody>
          <a:bodyPr anchorCtr="0" anchor="t" bIns="91425" lIns="91425" spcFirstLastPara="1" rIns="91425" wrap="square" tIns="91425">
            <a:normAutofit/>
          </a:bodyPr>
          <a:lstStyle/>
          <a:p>
            <a:pPr indent="-336550" lvl="0" marL="457200" rtl="0" algn="l">
              <a:spcBef>
                <a:spcPts val="600"/>
              </a:spcBef>
              <a:spcAft>
                <a:spcPts val="0"/>
              </a:spcAft>
              <a:buClr>
                <a:schemeClr val="dk1"/>
              </a:buClr>
              <a:buSzPts val="1700"/>
              <a:buChar char="●"/>
            </a:pPr>
            <a:r>
              <a:rPr i="1" lang="en" sz="1700">
                <a:solidFill>
                  <a:schemeClr val="dk1"/>
                </a:solidFill>
              </a:rPr>
              <a:t>Omitted Variables</a:t>
            </a:r>
            <a:endParaRPr i="1"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places with higher values of employees will have higher benefits for employees and more incentives to treat employees better</a:t>
            </a:r>
            <a:endParaRPr sz="1700">
              <a:solidFill>
                <a:schemeClr val="dk1"/>
              </a:solidFill>
            </a:endParaRPr>
          </a:p>
          <a:p>
            <a:pPr indent="-336550" lvl="0" marL="457200" rtl="0" algn="l">
              <a:spcBef>
                <a:spcPts val="0"/>
              </a:spcBef>
              <a:spcAft>
                <a:spcPts val="0"/>
              </a:spcAft>
              <a:buClr>
                <a:schemeClr val="dk1"/>
              </a:buClr>
              <a:buSzPts val="1700"/>
              <a:buChar char="●"/>
            </a:pPr>
            <a:r>
              <a:rPr i="1" lang="en" sz="1700">
                <a:solidFill>
                  <a:schemeClr val="dk1"/>
                </a:solidFill>
              </a:rPr>
              <a:t>Reverse Causality</a:t>
            </a:r>
            <a:endParaRPr i="1"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a high ESOP plan participation may lead to the employee ownership tax credit passing in the legislative branch of the State</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453850" y="445025"/>
            <a:ext cx="8378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sz="3850"/>
              <a:t>(3)  Strategy</a:t>
            </a:r>
            <a:endParaRPr sz="3850"/>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6550" lvl="0" marL="457200" rtl="0" algn="l">
              <a:lnSpc>
                <a:spcPct val="100000"/>
              </a:lnSpc>
              <a:spcBef>
                <a:spcPts val="600"/>
              </a:spcBef>
              <a:spcAft>
                <a:spcPts val="0"/>
              </a:spcAft>
              <a:buClr>
                <a:schemeClr val="dk1"/>
              </a:buClr>
              <a:buSzPts val="1700"/>
              <a:buChar char="●"/>
            </a:pPr>
            <a:r>
              <a:rPr lang="en" sz="1700">
                <a:solidFill>
                  <a:schemeClr val="dk1"/>
                </a:solidFill>
              </a:rPr>
              <a:t>Two Way Fixed Effects Diff-In-Diff</a:t>
            </a:r>
            <a:endParaRPr sz="1700">
              <a:solidFill>
                <a:schemeClr val="dk1"/>
              </a:solidFill>
            </a:endParaRPr>
          </a:p>
          <a:p>
            <a:pPr indent="-336550" lvl="1" marL="914400" rtl="0" algn="l">
              <a:lnSpc>
                <a:spcPct val="100000"/>
              </a:lnSpc>
              <a:spcBef>
                <a:spcPts val="0"/>
              </a:spcBef>
              <a:spcAft>
                <a:spcPts val="0"/>
              </a:spcAft>
              <a:buClr>
                <a:schemeClr val="dk1"/>
              </a:buClr>
              <a:buSzPts val="1700"/>
              <a:buChar char="○"/>
            </a:pPr>
            <a:r>
              <a:rPr lang="en" sz="1700">
                <a:solidFill>
                  <a:schemeClr val="dk1"/>
                </a:solidFill>
              </a:rPr>
              <a:t>We are going to compare </a:t>
            </a:r>
            <a:r>
              <a:rPr lang="en" sz="1700">
                <a:solidFill>
                  <a:schemeClr val="dk1"/>
                </a:solidFill>
              </a:rPr>
              <a:t>treatment</a:t>
            </a:r>
            <a:r>
              <a:rPr lang="en" sz="1700">
                <a:solidFill>
                  <a:schemeClr val="dk1"/>
                </a:solidFill>
              </a:rPr>
              <a:t> states (CO, IA, NE, and MI) with the rest of U.S. controlling for </a:t>
            </a:r>
            <a:r>
              <a:rPr lang="en" sz="1700">
                <a:solidFill>
                  <a:schemeClr val="dk1"/>
                </a:solidFill>
              </a:rPr>
              <a:t>staggered</a:t>
            </a:r>
            <a:r>
              <a:rPr lang="en" sz="1700">
                <a:solidFill>
                  <a:schemeClr val="dk1"/>
                </a:solidFill>
              </a:rPr>
              <a:t> implementation and invariant state characteristics with unit and year fixed effects.</a:t>
            </a:r>
            <a:endParaRPr sz="1700">
              <a:solidFill>
                <a:schemeClr val="dk1"/>
              </a:solidFill>
            </a:endParaRPr>
          </a:p>
          <a:p>
            <a:pPr indent="-336550" lvl="1" marL="914400" rtl="0" algn="l">
              <a:lnSpc>
                <a:spcPct val="100000"/>
              </a:lnSpc>
              <a:spcBef>
                <a:spcPts val="0"/>
              </a:spcBef>
              <a:spcAft>
                <a:spcPts val="0"/>
              </a:spcAft>
              <a:buClr>
                <a:schemeClr val="dk1"/>
              </a:buClr>
              <a:buSzPts val="1700"/>
              <a:buChar char="○"/>
            </a:pPr>
            <a:r>
              <a:rPr lang="en" sz="1700">
                <a:solidFill>
                  <a:schemeClr val="dk1"/>
                </a:solidFill>
              </a:rPr>
              <a:t>ESOP plan trends for small to medium size business should be similar across states, making them great candidates for a counterfactual. We validate this parallel trends assumption through event study analysis.</a:t>
            </a:r>
            <a:endParaRPr sz="1700">
              <a:solidFill>
                <a:schemeClr val="dk1"/>
              </a:solidFill>
            </a:endParaRPr>
          </a:p>
          <a:p>
            <a:pPr indent="-336550" lvl="1" marL="914400" rtl="0" algn="l">
              <a:lnSpc>
                <a:spcPct val="100000"/>
              </a:lnSpc>
              <a:spcBef>
                <a:spcPts val="0"/>
              </a:spcBef>
              <a:spcAft>
                <a:spcPts val="0"/>
              </a:spcAft>
              <a:buClr>
                <a:schemeClr val="dk1"/>
              </a:buClr>
              <a:buSzPts val="1700"/>
              <a:buChar char="○"/>
            </a:pPr>
            <a:r>
              <a:rPr lang="en" sz="1700">
                <a:solidFill>
                  <a:schemeClr val="dk1"/>
                </a:solidFill>
              </a:rPr>
              <a:t>Potential </a:t>
            </a:r>
            <a:r>
              <a:rPr lang="en" sz="1700">
                <a:solidFill>
                  <a:schemeClr val="dk1"/>
                </a:solidFill>
              </a:rPr>
              <a:t>spurious</a:t>
            </a:r>
            <a:r>
              <a:rPr lang="en" sz="1700">
                <a:solidFill>
                  <a:schemeClr val="dk1"/>
                </a:solidFill>
              </a:rPr>
              <a:t> correlation when looking at various outcomes. We will limit this to two highly correlated </a:t>
            </a:r>
            <a:r>
              <a:rPr lang="en" sz="1700">
                <a:solidFill>
                  <a:schemeClr val="dk1"/>
                </a:solidFill>
              </a:rPr>
              <a:t>outcomes</a:t>
            </a:r>
            <a:r>
              <a:rPr lang="en" sz="1700">
                <a:solidFill>
                  <a:schemeClr val="dk1"/>
                </a:solidFill>
              </a:rPr>
              <a:t> and lay out a theoretical argument to </a:t>
            </a:r>
            <a:r>
              <a:rPr lang="en" sz="1700">
                <a:solidFill>
                  <a:schemeClr val="dk1"/>
                </a:solidFill>
              </a:rPr>
              <a:t>tie our hands.</a:t>
            </a:r>
            <a:endParaRPr sz="1700">
              <a:solidFill>
                <a:schemeClr val="dk1"/>
              </a:solidFill>
            </a:endParaRPr>
          </a:p>
          <a:p>
            <a:pPr indent="-336550" lvl="1" marL="914400" rtl="0" algn="l">
              <a:lnSpc>
                <a:spcPct val="100000"/>
              </a:lnSpc>
              <a:spcBef>
                <a:spcPts val="0"/>
              </a:spcBef>
              <a:spcAft>
                <a:spcPts val="0"/>
              </a:spcAft>
              <a:buClr>
                <a:schemeClr val="dk1"/>
              </a:buClr>
              <a:buSzPts val="1700"/>
              <a:buChar char="○"/>
            </a:pPr>
            <a:r>
              <a:rPr lang="en" sz="1700">
                <a:solidFill>
                  <a:schemeClr val="dk1"/>
                </a:solidFill>
              </a:rPr>
              <a:t>Also potential heterogeneity in treatment effects across states. Need to explore methods to verify homogeneity for parallel trends to hold</a:t>
            </a:r>
            <a:endParaRPr sz="1700">
              <a:solidFill>
                <a:schemeClr val="dk1"/>
              </a:solidFill>
            </a:endParaRPr>
          </a:p>
          <a:p>
            <a:pPr indent="0" lvl="0" marL="0" rtl="0" algn="l">
              <a:spcBef>
                <a:spcPts val="6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453850" y="445025"/>
            <a:ext cx="8378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sz="3850"/>
              <a:t>(4)  Data</a:t>
            </a:r>
            <a:endParaRPr sz="3850"/>
          </a:p>
        </p:txBody>
      </p:sp>
      <p:sp>
        <p:nvSpPr>
          <p:cNvPr id="79" name="Google Shape;79;p17"/>
          <p:cNvSpPr txBox="1"/>
          <p:nvPr>
            <p:ph idx="1" type="body"/>
          </p:nvPr>
        </p:nvSpPr>
        <p:spPr>
          <a:xfrm>
            <a:off x="699675" y="1152475"/>
            <a:ext cx="7526100" cy="2309700"/>
          </a:xfrm>
          <a:prstGeom prst="rect">
            <a:avLst/>
          </a:prstGeom>
        </p:spPr>
        <p:txBody>
          <a:bodyPr anchorCtr="0" anchor="t" bIns="91425" lIns="91425" spcFirstLastPara="1" rIns="91425" wrap="square" tIns="91425">
            <a:normAutofit/>
          </a:bodyPr>
          <a:lstStyle/>
          <a:p>
            <a:pPr indent="-336550" lvl="0" marL="457200" rtl="0" algn="l">
              <a:spcBef>
                <a:spcPts val="600"/>
              </a:spcBef>
              <a:spcAft>
                <a:spcPts val="0"/>
              </a:spcAft>
              <a:buClr>
                <a:schemeClr val="dk1"/>
              </a:buClr>
              <a:buSzPts val="1700"/>
              <a:buChar char="●"/>
            </a:pPr>
            <a:r>
              <a:rPr lang="en" sz="1700">
                <a:solidFill>
                  <a:schemeClr val="dk1"/>
                </a:solidFill>
              </a:rPr>
              <a:t>The main dataset is a cross section of Form 5500 filings. Each observation is a form submitted to the Department of Labor constructing individual entries into variables. </a:t>
            </a:r>
            <a:endParaRPr sz="1700">
              <a:solidFill>
                <a:schemeClr val="dk1"/>
              </a:solidFill>
            </a:endParaRPr>
          </a:p>
          <a:p>
            <a:pPr indent="0" lvl="0" marL="0" rtl="0" algn="l">
              <a:spcBef>
                <a:spcPts val="600"/>
              </a:spcBef>
              <a:spcAft>
                <a:spcPts val="1200"/>
              </a:spcAft>
              <a:buNone/>
            </a:pPr>
            <a:r>
              <a:t/>
            </a:r>
            <a:endParaRPr>
              <a:solidFill>
                <a:schemeClr val="dk1"/>
              </a:solidFill>
            </a:endParaRPr>
          </a:p>
        </p:txBody>
      </p:sp>
      <p:pic>
        <p:nvPicPr>
          <p:cNvPr id="80" name="Google Shape;80;p17" title="data_ex.PNG"/>
          <p:cNvPicPr preferRelativeResize="0"/>
          <p:nvPr/>
        </p:nvPicPr>
        <p:blipFill>
          <a:blip r:embed="rId3">
            <a:alphaModFix/>
          </a:blip>
          <a:stretch>
            <a:fillRect/>
          </a:stretch>
        </p:blipFill>
        <p:spPr>
          <a:xfrm>
            <a:off x="337825" y="2403013"/>
            <a:ext cx="6505575" cy="2028825"/>
          </a:xfrm>
          <a:prstGeom prst="rect">
            <a:avLst/>
          </a:prstGeom>
          <a:noFill/>
          <a:ln>
            <a:noFill/>
          </a:ln>
        </p:spPr>
      </p:pic>
      <p:sp>
        <p:nvSpPr>
          <p:cNvPr id="81" name="Google Shape;81;p17"/>
          <p:cNvSpPr txBox="1"/>
          <p:nvPr/>
        </p:nvSpPr>
        <p:spPr>
          <a:xfrm>
            <a:off x="7127225" y="2316575"/>
            <a:ext cx="1810800" cy="23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 sz="1000">
                <a:solidFill>
                  <a:schemeClr val="dk1"/>
                </a:solidFill>
              </a:rPr>
              <a:t>Includes:</a:t>
            </a:r>
            <a:endParaRPr sz="1000">
              <a:solidFill>
                <a:schemeClr val="dk1"/>
              </a:solidFill>
            </a:endParaRPr>
          </a:p>
          <a:p>
            <a:pPr indent="-292100" lvl="0" marL="457200" rtl="0" algn="l">
              <a:lnSpc>
                <a:spcPct val="115000"/>
              </a:lnSpc>
              <a:spcBef>
                <a:spcPts val="600"/>
              </a:spcBef>
              <a:spcAft>
                <a:spcPts val="0"/>
              </a:spcAft>
              <a:buClr>
                <a:schemeClr val="dk1"/>
              </a:buClr>
              <a:buSzPts val="1000"/>
              <a:buAutoNum type="arabicPeriod"/>
            </a:pPr>
            <a:r>
              <a:rPr lang="en" sz="1000">
                <a:solidFill>
                  <a:schemeClr val="dk1"/>
                </a:solidFill>
              </a:rPr>
              <a:t>Filing ID</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Total number of pension plan participants</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 value of Assets in plan</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State of Company Sponsor</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Type of Pension Plan (includes code for ESOP)</a:t>
            </a:r>
            <a:endParaRPr sz="1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453850" y="445025"/>
            <a:ext cx="7980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sz="3850"/>
              <a:t>(5)  Level of Observation</a:t>
            </a:r>
            <a:endParaRPr sz="3850"/>
          </a:p>
        </p:txBody>
      </p:sp>
      <p:sp>
        <p:nvSpPr>
          <p:cNvPr id="87" name="Google Shape;87;p18"/>
          <p:cNvSpPr txBox="1"/>
          <p:nvPr>
            <p:ph idx="1" type="body"/>
          </p:nvPr>
        </p:nvSpPr>
        <p:spPr>
          <a:xfrm>
            <a:off x="690200" y="1152475"/>
            <a:ext cx="8142000" cy="3416400"/>
          </a:xfrm>
          <a:prstGeom prst="rect">
            <a:avLst/>
          </a:prstGeom>
        </p:spPr>
        <p:txBody>
          <a:bodyPr anchorCtr="0" anchor="t" bIns="91425" lIns="91425" spcFirstLastPara="1" rIns="91425" wrap="square" tIns="91425">
            <a:normAutofit/>
          </a:bodyPr>
          <a:lstStyle/>
          <a:p>
            <a:pPr indent="-336550" lvl="0" marL="457200" rtl="0" algn="l">
              <a:spcBef>
                <a:spcPts val="600"/>
              </a:spcBef>
              <a:spcAft>
                <a:spcPts val="0"/>
              </a:spcAft>
              <a:buClr>
                <a:schemeClr val="dk1"/>
              </a:buClr>
              <a:buSzPts val="1700"/>
              <a:buChar char="●"/>
            </a:pPr>
            <a:r>
              <a:rPr lang="en" sz="1700">
                <a:solidFill>
                  <a:schemeClr val="dk1"/>
                </a:solidFill>
              </a:rPr>
              <a:t>Each raw data file consists of observations on the filing level for a given year Hence we will combine and </a:t>
            </a:r>
            <a:r>
              <a:rPr lang="en" sz="1700">
                <a:solidFill>
                  <a:schemeClr val="dk1"/>
                </a:solidFill>
              </a:rPr>
              <a:t>aggregate each yearly 5500 filing dataset into a state-year panel.</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Each resulting observation will be on the state by year level where individual states receive treatment.</a:t>
            </a:r>
            <a:endParaRPr sz="1700">
              <a:solidFill>
                <a:schemeClr val="dk1"/>
              </a:solidFill>
            </a:endParaRPr>
          </a:p>
          <a:p>
            <a:pPr indent="0" lvl="0" marL="457200" rtl="0" algn="l">
              <a:spcBef>
                <a:spcPts val="600"/>
              </a:spcBef>
              <a:spcAft>
                <a:spcPts val="120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453850" y="445025"/>
            <a:ext cx="837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 (6)  Regression equation</a:t>
            </a:r>
            <a:endParaRPr sz="3400"/>
          </a:p>
        </p:txBody>
      </p:sp>
      <p:sp>
        <p:nvSpPr>
          <p:cNvPr id="93" name="Google Shape;93;p19"/>
          <p:cNvSpPr txBox="1"/>
          <p:nvPr>
            <p:ph idx="1" type="body"/>
          </p:nvPr>
        </p:nvSpPr>
        <p:spPr>
          <a:xfrm>
            <a:off x="311700" y="1152475"/>
            <a:ext cx="8520600" cy="392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1:</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sz="1700">
                <a:latin typeface="Roboto Mono"/>
                <a:ea typeface="Roboto Mono"/>
                <a:cs typeface="Roboto Mono"/>
                <a:sym typeface="Roboto Mono"/>
              </a:rPr>
              <a:t>reghdfe log_num_participants did_treatment </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pweight=state_population</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 absorb</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state year</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 </a:t>
            </a:r>
            <a:r>
              <a:rPr lang="en" sz="1700">
                <a:solidFill>
                  <a:srgbClr val="B6D7A8"/>
                </a:solidFill>
                <a:latin typeface="Roboto Mono"/>
                <a:ea typeface="Roboto Mono"/>
                <a:cs typeface="Roboto Mono"/>
                <a:sym typeface="Roboto Mono"/>
              </a:rPr>
              <a:t>cluster</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state</a:t>
            </a:r>
            <a:r>
              <a:rPr lang="en" sz="1700">
                <a:solidFill>
                  <a:srgbClr val="FFD966"/>
                </a:solidFill>
                <a:latin typeface="Roboto Mono"/>
                <a:ea typeface="Roboto Mono"/>
                <a:cs typeface="Roboto Mono"/>
                <a:sym typeface="Roboto Mono"/>
              </a:rPr>
              <a:t>)</a:t>
            </a:r>
            <a:endParaRPr sz="1700"/>
          </a:p>
          <a:p>
            <a:pPr indent="0" lvl="0" marL="0" rtl="0" algn="l">
              <a:spcBef>
                <a:spcPts val="1200"/>
              </a:spcBef>
              <a:spcAft>
                <a:spcPts val="0"/>
              </a:spcAft>
              <a:buNone/>
            </a:pPr>
            <a:r>
              <a:t/>
            </a:r>
            <a:endParaRPr>
              <a:solidFill>
                <a:srgbClr val="FFD966"/>
              </a:solidFill>
              <a:latin typeface="Roboto Mono"/>
              <a:ea typeface="Roboto Mono"/>
              <a:cs typeface="Roboto Mono"/>
              <a:sym typeface="Roboto Mono"/>
            </a:endParaRPr>
          </a:p>
          <a:p>
            <a:pPr indent="0" lvl="0" marL="0" rtl="0" algn="l">
              <a:spcBef>
                <a:spcPts val="1200"/>
              </a:spcBef>
              <a:spcAft>
                <a:spcPts val="1200"/>
              </a:spcAft>
              <a:buNone/>
            </a:pPr>
            <a:r>
              <a:rPr lang="en"/>
              <a:t>The </a:t>
            </a:r>
            <a:r>
              <a:rPr lang="en">
                <a:latin typeface="Roboto Mono"/>
                <a:ea typeface="Roboto Mono"/>
                <a:cs typeface="Roboto Mono"/>
                <a:sym typeface="Roboto Mono"/>
              </a:rPr>
              <a:t>did_treatment</a:t>
            </a:r>
            <a:r>
              <a:rPr lang="en"/>
              <a:t> variable indicates being in a treatment state and being in a post-treatment year</a:t>
            </a:r>
            <a:endParaRPr>
              <a:solidFill>
                <a:srgbClr val="FFD966"/>
              </a:solidFill>
              <a:latin typeface="Roboto Mono"/>
              <a:ea typeface="Roboto Mono"/>
              <a:cs typeface="Roboto Mono"/>
              <a:sym typeface="Roboto Mono"/>
            </a:endParaRPr>
          </a:p>
        </p:txBody>
      </p:sp>
      <p:pic>
        <p:nvPicPr>
          <p:cNvPr id="94" name="Google Shape;94;p19"/>
          <p:cNvPicPr preferRelativeResize="0"/>
          <p:nvPr/>
        </p:nvPicPr>
        <p:blipFill>
          <a:blip r:embed="rId3">
            <a:alphaModFix/>
          </a:blip>
          <a:stretch>
            <a:fillRect/>
          </a:stretch>
        </p:blipFill>
        <p:spPr>
          <a:xfrm>
            <a:off x="453850" y="1496002"/>
            <a:ext cx="7728573" cy="490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53850" y="445025"/>
            <a:ext cx="837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 (6)  Regression equation</a:t>
            </a:r>
            <a:endParaRPr sz="3400"/>
          </a:p>
        </p:txBody>
      </p:sp>
      <p:sp>
        <p:nvSpPr>
          <p:cNvPr id="100" name="Google Shape;100;p20"/>
          <p:cNvSpPr txBox="1"/>
          <p:nvPr>
            <p:ph idx="1" type="body"/>
          </p:nvPr>
        </p:nvSpPr>
        <p:spPr>
          <a:xfrm>
            <a:off x="311700" y="1152475"/>
            <a:ext cx="8520600" cy="392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Model 2:</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rPr lang="en" sz="1700">
                <a:latin typeface="Roboto Mono"/>
                <a:ea typeface="Roboto Mono"/>
                <a:cs typeface="Roboto Mono"/>
                <a:sym typeface="Roboto Mono"/>
              </a:rPr>
              <a:t>reghdfe log_asset_value did_treatment </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pweight=state_population</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 absorb</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state year</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 </a:t>
            </a:r>
            <a:r>
              <a:rPr lang="en" sz="1700">
                <a:solidFill>
                  <a:srgbClr val="B6D7A8"/>
                </a:solidFill>
                <a:latin typeface="Roboto Mono"/>
                <a:ea typeface="Roboto Mono"/>
                <a:cs typeface="Roboto Mono"/>
                <a:sym typeface="Roboto Mono"/>
              </a:rPr>
              <a:t>cluster</a:t>
            </a:r>
            <a:r>
              <a:rPr lang="en" sz="1700">
                <a:solidFill>
                  <a:srgbClr val="FFD966"/>
                </a:solidFill>
                <a:latin typeface="Roboto Mono"/>
                <a:ea typeface="Roboto Mono"/>
                <a:cs typeface="Roboto Mono"/>
                <a:sym typeface="Roboto Mono"/>
              </a:rPr>
              <a:t>(</a:t>
            </a:r>
            <a:r>
              <a:rPr lang="en" sz="1700">
                <a:latin typeface="Roboto Mono"/>
                <a:ea typeface="Roboto Mono"/>
                <a:cs typeface="Roboto Mono"/>
                <a:sym typeface="Roboto Mono"/>
              </a:rPr>
              <a:t>state</a:t>
            </a:r>
            <a:r>
              <a:rPr lang="en" sz="1700">
                <a:solidFill>
                  <a:srgbClr val="FFD966"/>
                </a:solidFill>
                <a:latin typeface="Roboto Mono"/>
                <a:ea typeface="Roboto Mono"/>
                <a:cs typeface="Roboto Mono"/>
                <a:sym typeface="Roboto Mono"/>
              </a:rPr>
              <a:t>)</a:t>
            </a:r>
            <a:endParaRPr sz="1700">
              <a:solidFill>
                <a:srgbClr val="FFD966"/>
              </a:solidFill>
              <a:latin typeface="Roboto Mono"/>
              <a:ea typeface="Roboto Mono"/>
              <a:cs typeface="Roboto Mono"/>
              <a:sym typeface="Roboto Mono"/>
            </a:endParaRPr>
          </a:p>
          <a:p>
            <a:pPr indent="0" lvl="0" marL="0" rtl="0" algn="l">
              <a:spcBef>
                <a:spcPts val="1200"/>
              </a:spcBef>
              <a:spcAft>
                <a:spcPts val="0"/>
              </a:spcAft>
              <a:buNone/>
            </a:pPr>
            <a:r>
              <a:t/>
            </a:r>
            <a:endParaRPr>
              <a:solidFill>
                <a:srgbClr val="FFD966"/>
              </a:solidFill>
              <a:latin typeface="Roboto Mono"/>
              <a:ea typeface="Roboto Mono"/>
              <a:cs typeface="Roboto Mono"/>
              <a:sym typeface="Roboto Mono"/>
            </a:endParaRPr>
          </a:p>
          <a:p>
            <a:pPr indent="0" lvl="0" marL="0" rtl="0" algn="l">
              <a:spcBef>
                <a:spcPts val="1200"/>
              </a:spcBef>
              <a:spcAft>
                <a:spcPts val="1200"/>
              </a:spcAft>
              <a:buNone/>
            </a:pPr>
            <a:r>
              <a:rPr lang="en"/>
              <a:t>The </a:t>
            </a:r>
            <a:r>
              <a:rPr lang="en">
                <a:latin typeface="Roboto Mono"/>
                <a:ea typeface="Roboto Mono"/>
                <a:cs typeface="Roboto Mono"/>
                <a:sym typeface="Roboto Mono"/>
              </a:rPr>
              <a:t>did_treatment</a:t>
            </a:r>
            <a:r>
              <a:rPr lang="en"/>
              <a:t> variable indicates being in a treatment state and being in a post-treatment year</a:t>
            </a:r>
            <a:endParaRPr>
              <a:solidFill>
                <a:srgbClr val="FFD966"/>
              </a:solidFill>
              <a:latin typeface="Roboto Mono"/>
              <a:ea typeface="Roboto Mono"/>
              <a:cs typeface="Roboto Mono"/>
              <a:sym typeface="Roboto Mono"/>
            </a:endParaRPr>
          </a:p>
        </p:txBody>
      </p:sp>
      <p:pic>
        <p:nvPicPr>
          <p:cNvPr id="101" name="Google Shape;101;p20"/>
          <p:cNvPicPr preferRelativeResize="0"/>
          <p:nvPr/>
        </p:nvPicPr>
        <p:blipFill>
          <a:blip r:embed="rId3">
            <a:alphaModFix/>
          </a:blip>
          <a:stretch>
            <a:fillRect/>
          </a:stretch>
        </p:blipFill>
        <p:spPr>
          <a:xfrm>
            <a:off x="453850" y="1473374"/>
            <a:ext cx="7728573" cy="53586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